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f8beb9a0a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f8beb9a0a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8beb9a0a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8beb9a0a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beb9a0a2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beb9a0a2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b5c44d8e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b5c44d8e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b5c44d8e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b5c44d8e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8b5c44d8e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8b5c44d8e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fa5cbaab8f_4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fa5cbaab8f_4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a5cbaab8f_4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a5cbaab8f_4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f8beb9a0a2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f8beb9a0a2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fa5cbaab8f_4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fa5cbaab8f_4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a358909a3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fa358909a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a5cbaab8f_4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a5cbaab8f_4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a358909a3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fa358909a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a358909a3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fa358909a3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a5cbaab8f_4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fa5cbaab8f_4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fa5cbaab8f_4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fa5cbaab8f_4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fa358909a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fa358909a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a358909a3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a358909a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fa358909a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fa358909a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a358909a3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a358909a3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a358909a3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fa358909a3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fa358909a3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fa358909a3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fa358909a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fa358909a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a358909a3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a358909a3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f85a0ac1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f85a0ac1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a358909a3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fa358909a3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fa358909a3_0_1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fa358909a3_0_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fa358909a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fa358909a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f85a0ac1a5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f85a0ac1a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f85a0ac1a5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f85a0ac1a5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f85c9b2b2d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f85c9b2b2d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fa5cbaab8f_4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fa5cbaab8f_4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f85c9b2b2d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f85c9b2b2d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a358909a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3fa358909a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f85c9b2b2d_2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f85c9b2b2d_2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fa358909a3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fa358909a3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fa358909a3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3fa358909a3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f85c9b2b2d_2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f85c9b2b2d_2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a358909a3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a358909a3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fa358909a3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fa358909a3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3f85c9b2b2d_2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3f85c9b2b2d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fa358909a3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fa358909a3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f8b544a75c_4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f8b544a75c_4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f85c9b2b2d_2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f85c9b2b2d_2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f8b544a75c_4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f8b544a75c_4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f8b5c44d8e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f8b5c44d8e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fa358909a3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5" name="Google Shape;385;g3fa358909a3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fa358909a3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fa358909a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f85c9b2b2d_2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f85c9b2b2d_2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5c9b2b2d_2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f85c9b2b2d_2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a5cbaab8f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a5cbaab8f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f85c9b2b2d_2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f85c9b2b2d_2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3f85c9b2b2d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3f85c9b2b2d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3f85c9b2b2d_2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6" name="Google Shape;436;g3f85c9b2b2d_2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fa358909a3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fa358909a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a5cbaab8f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fa5cbaab8f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f8b5c44d8e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f8b5c44d8e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f85c9b2b2d_2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3f85c9b2b2d_2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fa358909a3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3fa358909a3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jpg"/><Relationship Id="rId4" Type="http://schemas.openxmlformats.org/officeDocument/2006/relationships/image" Target="../media/image3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32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0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4.jpg"/><Relationship Id="rId4" Type="http://schemas.openxmlformats.org/officeDocument/2006/relationships/image" Target="../media/image17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9.jpg"/><Relationship Id="rId4" Type="http://schemas.openxmlformats.org/officeDocument/2006/relationships/image" Target="../media/image38.jpg"/><Relationship Id="rId5" Type="http://schemas.openxmlformats.org/officeDocument/2006/relationships/image" Target="../media/image30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2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8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23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8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2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1.jpg"/><Relationship Id="rId4" Type="http://schemas.openxmlformats.org/officeDocument/2006/relationships/image" Target="../media/image24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jp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0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44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26.jpg"/><Relationship Id="rId4" Type="http://schemas.openxmlformats.org/officeDocument/2006/relationships/image" Target="../media/image32.jpg"/><Relationship Id="rId5" Type="http://schemas.openxmlformats.org/officeDocument/2006/relationships/image" Target="../media/image43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37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36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31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45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246075" y="634425"/>
            <a:ext cx="8520600" cy="842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Cat Coat Phenotypes and Survey Concordance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Colin Klick</a:t>
            </a:r>
            <a:endParaRPr/>
          </a:p>
        </p:txBody>
      </p:sp>
      <p:pic>
        <p:nvPicPr>
          <p:cNvPr id="56" name="Google Shape;56;p13" title="cat_coll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513" y="1715750"/>
            <a:ext cx="7478724" cy="34277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319575" y="1312438"/>
            <a:ext cx="23736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Colin Klick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used for this presentation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Phenotypic survey data and genetic data from ~1500 cats through Darwin’s Ark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- Elinor’s Idea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Everyone wanted to tell Elinor about their dog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idea was to capture all this information to a format usable for science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powerful model.  For instance . . .</a:t>
            </a:r>
            <a:endParaRPr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Compulsive behaviors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Ark, a community science nonprofit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“Together, we can unlock the mysteries of pet behavior and genetics to help cats, dogs, and humans live healthier, happier lives.”</a:t>
            </a:r>
            <a:endParaRPr/>
          </a:p>
        </p:txBody>
      </p:sp>
      <p:pic>
        <p:nvPicPr>
          <p:cNvPr id="82" name="Google Shape;82;p17" title="darwins_ark_screenshot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00825"/>
            <a:ext cx="8520600" cy="31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~260 Questions across 21 surveys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 title="darwins_surveys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50" y="1017725"/>
            <a:ext cx="8468700" cy="2946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are going to examine the coat and fur survey</a:t>
            </a:r>
            <a:endParaRPr/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6" name="Google Shape;96;p19" title="darwins_ark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757525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the coat and fur survey?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"/>
              <a:t>Start by examining simpler traits caused by one or a few variants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Both"/>
            </a:pPr>
            <a:r>
              <a:rPr lang="en"/>
              <a:t>It’s the toughest survey in terms of owner accuracy, so it’s perfect for concordance/discordance analysis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Let’s dive in to a trait</a:t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1" title="DA00002018_match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79398"/>
            <a:ext cx="3550551" cy="26629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1" title="DA00002655_bucket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8951" y="1396350"/>
            <a:ext cx="2196457" cy="29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Normal agouti hairs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17" name="Google Shape;117;p22" title="agouti_fur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135700"/>
            <a:ext cx="7469125" cy="1889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918775" y="4276675"/>
            <a:ext cx="2493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Eumelanin bands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9" name="Google Shape;119;p22"/>
          <p:cNvSpPr txBox="1"/>
          <p:nvPr/>
        </p:nvSpPr>
        <p:spPr>
          <a:xfrm>
            <a:off x="4308750" y="4199375"/>
            <a:ext cx="2493900" cy="4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Phaeomelanin</a:t>
            </a:r>
            <a:r>
              <a:rPr lang="en" sz="1800">
                <a:solidFill>
                  <a:schemeClr val="dk2"/>
                </a:solidFill>
              </a:rPr>
              <a:t> bands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Non-agouti hair (right)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3" title="agouti_vs_nonagouti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6" y="1152481"/>
            <a:ext cx="250914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3" title="DA00002018_match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49300" y="1460648"/>
            <a:ext cx="3550551" cy="26629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ASIP turns the MC1R protein on and off</a:t>
            </a:r>
            <a:endParaRPr/>
          </a:p>
        </p:txBody>
      </p:sp>
      <p:sp>
        <p:nvSpPr>
          <p:cNvPr id="133" name="Google Shape;13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34" name="Google Shape;134;p24"/>
          <p:cNvSpPr txBox="1"/>
          <p:nvPr/>
        </p:nvSpPr>
        <p:spPr>
          <a:xfrm>
            <a:off x="2001625" y="2001625"/>
            <a:ext cx="4659600" cy="1640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ASIP				MC1R</a:t>
            </a:r>
            <a:endParaRPr sz="1800">
              <a:solidFill>
                <a:schemeClr val="dk2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inhibits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4"/>
          <p:cNvSpPr/>
          <p:nvPr/>
        </p:nvSpPr>
        <p:spPr>
          <a:xfrm>
            <a:off x="3029775" y="2231325"/>
            <a:ext cx="1039200" cy="4716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Eizirik et al. 2003 - Finding ASIP</a:t>
            </a:r>
            <a:endParaRPr/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ASIP was a candidate gene from the literature (e.g., from mice)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Used markers next to ASIP in an 89-cat pedigree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Sequenced ASIP and found </a:t>
            </a:r>
            <a:r>
              <a:rPr lang="en"/>
              <a:t>a 2 bp deletion, frameshifting the protein and truncating its critical C-terminal domain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Confirmed with association with ~140 cats (small by today's standards)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Other variants affecting cat coat phenotypes</a:t>
            </a:r>
            <a:endParaRPr/>
          </a:p>
        </p:txBody>
      </p:sp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Similarly to the non agouti variant, cat coat phenotypes are caused by one or a small number of variants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Previous </a:t>
            </a:r>
            <a:r>
              <a:rPr lang="en"/>
              <a:t>studies</a:t>
            </a:r>
            <a:r>
              <a:rPr lang="en"/>
              <a:t> used a combination of:</a:t>
            </a:r>
            <a:endParaRPr/>
          </a:p>
        </p:txBody>
      </p:sp>
      <p:sp>
        <p:nvSpPr>
          <p:cNvPr id="153" name="Google Shape;15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Pedigree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Small-scale association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Development biology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takes a different approach</a:t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Population-scale, not pedigree-based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Unbiased genome-wide scan, not candidate genes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Owner-reported phenotypes, not clinical/expert scoring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look into other traits and their variants</a:t>
            </a:r>
            <a:endParaRPr/>
          </a:p>
        </p:txBody>
      </p:sp>
      <p:sp>
        <p:nvSpPr>
          <p:cNvPr id="165" name="Google Shape;16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KIT - White spotting</a:t>
            </a:r>
            <a:endParaRPr/>
          </a:p>
        </p:txBody>
      </p:sp>
      <p:sp>
        <p:nvSpPr>
          <p:cNvPr id="171" name="Google Shape;17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Epistatic to other coat phenotypes</a:t>
            </a:r>
            <a:endParaRPr/>
          </a:p>
        </p:txBody>
      </p:sp>
      <p:pic>
        <p:nvPicPr>
          <p:cNvPr id="172" name="Google Shape;172;p30" title="KIT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41923"/>
            <a:ext cx="6420499" cy="350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GWAS replicates the association</a:t>
            </a:r>
            <a:endParaRPr/>
          </a:p>
        </p:txBody>
      </p:sp>
      <p:sp>
        <p:nvSpPr>
          <p:cNvPr id="178" name="Google Shape;178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31" title="kit_gwa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84"/>
            <a:ext cx="7232768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Orange Locus</a:t>
            </a:r>
            <a:endParaRPr/>
          </a:p>
        </p:txBody>
      </p:sp>
      <p:sp>
        <p:nvSpPr>
          <p:cNvPr id="185" name="Google Shape;185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 areas on coat that are not white, orange is epistatic to black</a:t>
            </a:r>
            <a:endParaRPr/>
          </a:p>
        </p:txBody>
      </p:sp>
      <p:pic>
        <p:nvPicPr>
          <p:cNvPr id="186" name="Google Shape;186;p32" title="red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618800"/>
            <a:ext cx="6595499" cy="35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GWAS replicates the orange locus</a:t>
            </a:r>
            <a:endParaRPr/>
          </a:p>
        </p:txBody>
      </p:sp>
      <p:sp>
        <p:nvSpPr>
          <p:cNvPr id="192" name="Google Shape;192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93" name="Google Shape;193;p33" title="coat_color_red_N-479.manhatta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200" y="1017725"/>
            <a:ext cx="7588101" cy="37940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Colorpoint</a:t>
            </a:r>
            <a:endParaRPr/>
          </a:p>
        </p:txBody>
      </p:sp>
      <p:sp>
        <p:nvSpPr>
          <p:cNvPr id="199" name="Google Shape;199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Colorpoint variant acts independently of other traits</a:t>
            </a:r>
            <a:endParaRPr/>
          </a:p>
        </p:txBody>
      </p:sp>
      <p:pic>
        <p:nvPicPr>
          <p:cNvPr id="200" name="Google Shape;200;p34" title="colorpoint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3800"/>
            <a:ext cx="7104125" cy="2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</a:t>
            </a:r>
            <a:endParaRPr/>
          </a:p>
        </p:txBody>
      </p:sp>
      <p:sp>
        <p:nvSpPr>
          <p:cNvPr id="206" name="Google Shape;20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Dilute</a:t>
            </a:r>
            <a:r>
              <a:rPr lang="en"/>
              <a:t> variant acts independently of other traits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7" name="Google Shape;207;p35" title="dilute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75" y="1699999"/>
            <a:ext cx="6043851" cy="286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Agouti/nonagouti (Tabby status)</a:t>
            </a:r>
            <a:endParaRPr/>
          </a:p>
        </p:txBody>
      </p:sp>
      <p:sp>
        <p:nvSpPr>
          <p:cNvPr id="213" name="Google Shape;21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Describes the individual hairs on a cat</a:t>
            </a:r>
            <a:endParaRPr/>
          </a:p>
        </p:txBody>
      </p:sp>
      <p:pic>
        <p:nvPicPr>
          <p:cNvPr id="214" name="Google Shape;214;p36" title="tabby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97426"/>
            <a:ext cx="6666950" cy="25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tabby, what is tabby type</a:t>
            </a:r>
            <a:endParaRPr/>
          </a:p>
        </p:txBody>
      </p:sp>
      <p:sp>
        <p:nvSpPr>
          <p:cNvPr id="220" name="Google Shape;220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21" name="Google Shape;221;p37" title="if_tabby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3"/>
            <a:ext cx="6565831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Describing a coat phenotype</a:t>
            </a:r>
            <a:endParaRPr/>
          </a:p>
        </p:txBody>
      </p:sp>
      <p:sp>
        <p:nvSpPr>
          <p:cNvPr id="227" name="Google Shape;227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Colorpoint / Not colorpoint (TYR)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Dilute / Not dilute (MLPH)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Agouti / Not agouti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Agouti: Mackerel / Blotched / Ticked / Other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Pictures - Rule-based organizing into categories</a:t>
            </a:r>
            <a:endParaRPr/>
          </a:p>
        </p:txBody>
      </p:sp>
      <p:sp>
        <p:nvSpPr>
          <p:cNvPr id="233" name="Google Shape;233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4" name="Google Shape;234;p39" title="cat_coll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152475"/>
            <a:ext cx="7478724" cy="3427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dilute, not colorpoint, non agouti (536)</a:t>
            </a:r>
            <a:endParaRPr/>
          </a:p>
        </p:txBody>
      </p:sp>
      <p:sp>
        <p:nvSpPr>
          <p:cNvPr id="240" name="Google Shape;240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1" name="Google Shape;241;p40" title="DA00000821_bucket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6375" y="1239225"/>
            <a:ext cx="3857626" cy="404510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40" title="DA00001572_bucket1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99275"/>
            <a:ext cx="2919700" cy="259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Not dilute, not colorpoint, mackerel (322)</a:t>
            </a:r>
            <a:endParaRPr/>
          </a:p>
        </p:txBody>
      </p:sp>
      <p:sp>
        <p:nvSpPr>
          <p:cNvPr id="248" name="Google Shape;248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49" name="Google Shape;249;p41" title="DA00001820_bucket2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150" y="1196100"/>
            <a:ext cx="2836372" cy="21272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41" title="DA00001434_bucket2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70775" y="1152475"/>
            <a:ext cx="1712298" cy="22741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41" title="DA00002655_bucket2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15518" y="1260425"/>
            <a:ext cx="1830651" cy="2440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Variants from the literature (OMIA)</a:t>
            </a:r>
            <a:endParaRPr/>
          </a:p>
        </p:txBody>
      </p:sp>
      <p:sp>
        <p:nvSpPr>
          <p:cNvPr id="257" name="Google Shape;25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site_names = {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('chrD1', 44013031): 'siamese',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('chrD1', 44022819): 'burmese',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('chrA3', 24831082): 'agouti',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('chrA1', 94477275): 's59x',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('chrA1', 94536796): 'w841x',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('chrC1', 218197447): 'dilute',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('chrB1', 40428846): 'a18v',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('chrB1', 40429492): 'c63y',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('chrD4', 38142265): 'chocolate',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605"/>
              <a:buNone/>
            </a:pPr>
            <a:r>
              <a:rPr lang="en" sz="1190"/>
              <a:t>    ('chrD4', 38130163): 'cinnamon'</a:t>
            </a:r>
            <a:endParaRPr sz="1190"/>
          </a:p>
          <a:p>
            <a:pPr indent="0" lvl="0" marL="0" rtl="0" algn="l">
              <a:lnSpc>
                <a:spcPct val="80000"/>
              </a:lnSpc>
              <a:spcBef>
                <a:spcPts val="1200"/>
              </a:spcBef>
              <a:spcAft>
                <a:spcPts val="1200"/>
              </a:spcAft>
              <a:buSzPts val="605"/>
              <a:buNone/>
            </a:pPr>
            <a:r>
              <a:rPr lang="en" sz="1190"/>
              <a:t>}</a:t>
            </a:r>
            <a:endParaRPr sz="119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Building phenotype table from genotype</a:t>
            </a:r>
            <a:endParaRPr/>
          </a:p>
        </p:txBody>
      </p:sp>
      <p:sp>
        <p:nvSpPr>
          <p:cNvPr id="263" name="Google Shape;263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Bcftools used to return genotype per site per cat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Map genotype to allele count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Pivot so each cat has its own row with allele counts for all sites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64" name="Google Shape;264;p43" title="geno_wid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125" y="2289713"/>
            <a:ext cx="6696075" cy="208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rules from the literature, </a:t>
            </a:r>
            <a:r>
              <a:rPr lang="en"/>
              <a:t>assign phenotype</a:t>
            </a:r>
            <a:endParaRPr/>
          </a:p>
        </p:txBody>
      </p:sp>
      <p:sp>
        <p:nvSpPr>
          <p:cNvPr id="270" name="Google Shape;270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Example: To classify the tabby pattern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If homozygous at one variant or heterozygous at two variants, then classify as ‘Blotched’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This designation can be </a:t>
            </a:r>
            <a:r>
              <a:rPr lang="en"/>
              <a:t>overridden</a:t>
            </a:r>
            <a:r>
              <a:rPr lang="en"/>
              <a:t> by ‘Ticked’ alleles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Classify</a:t>
            </a:r>
            <a:r>
              <a:rPr lang="en"/>
              <a:t> cats according to their genotype</a:t>
            </a:r>
            <a:endParaRPr/>
          </a:p>
        </p:txBody>
      </p:sp>
      <p:sp>
        <p:nvSpPr>
          <p:cNvPr id="276" name="Google Shape;27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77" name="Google Shape;277;p45" title="geno_wide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4" y="1152479"/>
            <a:ext cx="8520600" cy="2281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Classify cats according to their owner’s survey</a:t>
            </a:r>
            <a:endParaRPr/>
          </a:p>
        </p:txBody>
      </p:sp>
      <p:sp>
        <p:nvSpPr>
          <p:cNvPr id="283" name="Google Shape;283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84" name="Google Shape;284;p46" title="survey_phenotyp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9100"/>
            <a:ext cx="6793151" cy="2791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Colorpoint</a:t>
            </a:r>
            <a:endParaRPr/>
          </a:p>
        </p:txBody>
      </p:sp>
      <p:sp>
        <p:nvSpPr>
          <p:cNvPr id="290" name="Google Shape;29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Colorpoint variant acts independently of other traits</a:t>
            </a:r>
            <a:endParaRPr/>
          </a:p>
        </p:txBody>
      </p:sp>
      <p:pic>
        <p:nvPicPr>
          <p:cNvPr id="291" name="Google Shape;291;p47" title="colorpoint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793800"/>
            <a:ext cx="7104125" cy="277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Colorpoint</a:t>
            </a:r>
            <a:endParaRPr/>
          </a:p>
        </p:txBody>
      </p:sp>
      <p:sp>
        <p:nvSpPr>
          <p:cNvPr id="297" name="Google Shape;297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98" name="Google Shape;298;p48" title="colorpoint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1"/>
            <a:ext cx="5023041" cy="263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48"/>
          <p:cNvSpPr txBox="1"/>
          <p:nvPr/>
        </p:nvSpPr>
        <p:spPr>
          <a:xfrm>
            <a:off x="4779825" y="3828225"/>
            <a:ext cx="3959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Overall discordance: 3.8%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colorpoint GWAS</a:t>
            </a:r>
            <a:endParaRPr/>
          </a:p>
        </p:txBody>
      </p:sp>
      <p:sp>
        <p:nvSpPr>
          <p:cNvPr id="305" name="Google Shape;305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9" title="colorpoint_N-853.manhatta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832824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</a:t>
            </a:r>
            <a:endParaRPr/>
          </a:p>
        </p:txBody>
      </p:sp>
      <p:sp>
        <p:nvSpPr>
          <p:cNvPr id="312" name="Google Shape;312;p5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Dilute variant acts independently of other traits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13" name="Google Shape;313;p50" title="dilute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875" y="1699999"/>
            <a:ext cx="6043851" cy="286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Dilute Concordance</a:t>
            </a:r>
            <a:endParaRPr/>
          </a:p>
        </p:txBody>
      </p:sp>
      <p:sp>
        <p:nvSpPr>
          <p:cNvPr id="319" name="Google Shape;319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51"/>
          <p:cNvSpPr txBox="1"/>
          <p:nvPr/>
        </p:nvSpPr>
        <p:spPr>
          <a:xfrm>
            <a:off x="4779825" y="3828225"/>
            <a:ext cx="3959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Overall discordance: 14.0%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321" name="Google Shape;321;p51" title="dilute_corre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26" y="1152475"/>
            <a:ext cx="4994966" cy="252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dilute GWAS (blue) </a:t>
            </a:r>
            <a:endParaRPr/>
          </a:p>
        </p:txBody>
      </p:sp>
      <p:sp>
        <p:nvSpPr>
          <p:cNvPr id="327" name="Google Shape;327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8" name="Google Shape;328;p52" title="coat_color_blue_N-367.manhattan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683279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Agouti/nonagouti (Tabby status)</a:t>
            </a:r>
            <a:endParaRPr/>
          </a:p>
        </p:txBody>
      </p:sp>
      <p:sp>
        <p:nvSpPr>
          <p:cNvPr id="334" name="Google Shape;334;p5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Describes the individual hairs on a cat</a:t>
            </a:r>
            <a:endParaRPr/>
          </a:p>
        </p:txBody>
      </p:sp>
      <p:pic>
        <p:nvPicPr>
          <p:cNvPr id="335" name="Google Shape;335;p53" title="tabby_q_screensh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97426"/>
            <a:ext cx="6666950" cy="25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Tabby status</a:t>
            </a:r>
            <a:endParaRPr/>
          </a:p>
        </p:txBody>
      </p:sp>
      <p:sp>
        <p:nvSpPr>
          <p:cNvPr id="341" name="Google Shape;341;p5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42" name="Google Shape;342;p54" title="tabby_graph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886424" cy="2468525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54"/>
          <p:cNvSpPr txBox="1"/>
          <p:nvPr/>
        </p:nvSpPr>
        <p:spPr>
          <a:xfrm>
            <a:off x="4779825" y="3828225"/>
            <a:ext cx="3959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Overall discordance: 17.8%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Darwin’s Ark tabby GWAS</a:t>
            </a:r>
            <a:endParaRPr/>
          </a:p>
        </p:txBody>
      </p:sp>
      <p:sp>
        <p:nvSpPr>
          <p:cNvPr id="349" name="Google Shape;349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350" name="Google Shape;350;p55" title="mackerel_tabby_N-583.manhatta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48250"/>
            <a:ext cx="7790500" cy="389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for colorpoint, agouti, dilute</a:t>
            </a:r>
            <a:endParaRPr/>
          </a:p>
        </p:txBody>
      </p:sp>
      <p:sp>
        <p:nvSpPr>
          <p:cNvPr id="356" name="Google Shape;356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6" title="Screen Shot 2026-10-09 at 8.26.19 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975" y="1152475"/>
            <a:ext cx="5820025" cy="365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Tabby type discordance</a:t>
            </a:r>
            <a:endParaRPr/>
          </a:p>
        </p:txBody>
      </p:sp>
      <p:sp>
        <p:nvSpPr>
          <p:cNvPr id="363" name="Google Shape;363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Overall discordance: 17.8%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64" name="Google Shape;364;p57" title="tabby_type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875" y="1152475"/>
            <a:ext cx="3970524" cy="2944175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57"/>
          <p:cNvSpPr txBox="1"/>
          <p:nvPr/>
        </p:nvSpPr>
        <p:spPr>
          <a:xfrm>
            <a:off x="4779825" y="3828225"/>
            <a:ext cx="3959400" cy="6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Overall discordance: 29.8%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Metrics for tabby type</a:t>
            </a:r>
            <a:endParaRPr/>
          </a:p>
        </p:txBody>
      </p:sp>
      <p:sp>
        <p:nvSpPr>
          <p:cNvPr id="371" name="Google Shape;37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8"/>
          <p:cNvSpPr txBox="1"/>
          <p:nvPr/>
        </p:nvSpPr>
        <p:spPr>
          <a:xfrm>
            <a:off x="3762600" y="3216475"/>
            <a:ext cx="809400" cy="8859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3" name="Google Shape;373;p58"/>
          <p:cNvSpPr/>
          <p:nvPr/>
        </p:nvSpPr>
        <p:spPr>
          <a:xfrm flipH="1">
            <a:off x="4052400" y="3146650"/>
            <a:ext cx="229800" cy="6453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58" title="metrics2_corre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5775"/>
            <a:ext cx="5640450" cy="376952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58"/>
          <p:cNvSpPr/>
          <p:nvPr/>
        </p:nvSpPr>
        <p:spPr>
          <a:xfrm>
            <a:off x="4630425" y="2976075"/>
            <a:ext cx="377700" cy="71040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Genotype-Survey Discordance</a:t>
            </a:r>
            <a:endParaRPr/>
          </a:p>
        </p:txBody>
      </p:sp>
      <p:sp>
        <p:nvSpPr>
          <p:cNvPr id="381" name="Google Shape;381;p5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82" name="Google Shape;382;p59" title="traits_discordance_corre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547343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does the Darwin’s GWAS have to say . . .?</a:t>
            </a:r>
            <a:endParaRPr/>
          </a:p>
        </p:txBody>
      </p:sp>
      <p:sp>
        <p:nvSpPr>
          <p:cNvPr id="388" name="Google Shape;388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Coming soon</a:t>
            </a:r>
            <a:endParaRPr/>
          </a:p>
        </p:txBody>
      </p:sp>
      <p:sp>
        <p:nvSpPr>
          <p:cNvPr id="394" name="Google Shape;394;p6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Diving in to the Ticked discrepancy</a:t>
            </a:r>
            <a:endParaRPr/>
          </a:p>
        </p:txBody>
      </p:sp>
      <p:sp>
        <p:nvSpPr>
          <p:cNvPr id="400" name="Google Shape;400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61 owners called their cat ‘Ticked’ when the genotype said ‘Mackerel’ or ‘Blotched’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Owner misclassification ⇒</a:t>
            </a:r>
            <a:endParaRPr/>
          </a:p>
        </p:txBody>
      </p:sp>
      <p:pic>
        <p:nvPicPr>
          <p:cNvPr id="401" name="Google Shape;401;p62" title="DA00000504_gt_mackerel_pt_ticke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42500" y="1606300"/>
            <a:ext cx="2658924" cy="297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62" title="DA00000876_gt_blotched_pt_tick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40477" y="1606300"/>
            <a:ext cx="2250000" cy="2813276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62"/>
          <p:cNvSpPr txBox="1"/>
          <p:nvPr/>
        </p:nvSpPr>
        <p:spPr>
          <a:xfrm>
            <a:off x="6640475" y="4517300"/>
            <a:ext cx="2250000" cy="47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Classic (“Blotched”)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404" name="Google Shape;404;p62"/>
          <p:cNvSpPr txBox="1"/>
          <p:nvPr/>
        </p:nvSpPr>
        <p:spPr>
          <a:xfrm>
            <a:off x="3642500" y="4566500"/>
            <a:ext cx="1640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Mackerel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Diving in to the Ticked discrepancy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Orange cats</a:t>
            </a:r>
            <a:endParaRPr/>
          </a:p>
        </p:txBody>
      </p:sp>
      <p:pic>
        <p:nvPicPr>
          <p:cNvPr id="411" name="Google Shape;411;p63" title="DA00000749_gt_mackerel_pt_tick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525" y="1711802"/>
            <a:ext cx="2982574" cy="2982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Ticked cats are enriched with risk factors</a:t>
            </a:r>
            <a:endParaRPr/>
          </a:p>
        </p:txBody>
      </p:sp>
      <p:sp>
        <p:nvSpPr>
          <p:cNvPr id="417" name="Google Shape;417;p6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18" name="Google Shape;418;p64" title="ticked_enrich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4549383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Diving into the Ticked discrepancy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Some tougher calls</a:t>
            </a:r>
            <a:endParaRPr/>
          </a:p>
        </p:txBody>
      </p:sp>
      <p:pic>
        <p:nvPicPr>
          <p:cNvPr id="425" name="Google Shape;425;p65" title="DA00000448_gt_mackerel_pt_ticked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300" y="1524000"/>
            <a:ext cx="2390273" cy="3187052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65"/>
          <p:cNvSpPr txBox="1"/>
          <p:nvPr/>
        </p:nvSpPr>
        <p:spPr>
          <a:xfrm>
            <a:off x="3402175" y="3949525"/>
            <a:ext cx="1728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Colorpoint mackerel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Discordance in general</a:t>
            </a:r>
            <a:endParaRPr/>
          </a:p>
        </p:txBody>
      </p:sp>
      <p:sp>
        <p:nvSpPr>
          <p:cNvPr id="432" name="Google Shape;432;p6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Another way to compare: Sets of traits from genotype and from survey</a:t>
            </a:r>
            <a:endParaRPr/>
          </a:p>
        </p:txBody>
      </p:sp>
      <p:pic>
        <p:nvPicPr>
          <p:cNvPr id="433" name="Google Shape;433;p66" title="geno_vs_survey_set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463" y="2041525"/>
            <a:ext cx="6962775" cy="1638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Total agreement (Easy cats)</a:t>
            </a:r>
            <a:endParaRPr/>
          </a:p>
        </p:txBody>
      </p:sp>
      <p:sp>
        <p:nvSpPr>
          <p:cNvPr id="439" name="Google Shape;439;p6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40" name="Google Shape;440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52475"/>
            <a:ext cx="2734600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6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6300" y="1612500"/>
            <a:ext cx="2734600" cy="1854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6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80900" y="1612500"/>
            <a:ext cx="2910625" cy="2182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6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Longhair coat length predicts genotype-survey discordance</a:t>
            </a:r>
            <a:endParaRPr/>
          </a:p>
        </p:txBody>
      </p:sp>
      <p:sp>
        <p:nvSpPr>
          <p:cNvPr id="448" name="Google Shape;448;p6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49" name="Google Shape;449;p68"/>
          <p:cNvSpPr txBox="1"/>
          <p:nvPr/>
        </p:nvSpPr>
        <p:spPr>
          <a:xfrm>
            <a:off x="5982975" y="1881300"/>
            <a:ext cx="2603100" cy="18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(in 305 cats with tabby type and survey tabby type not missing)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0" name="Google Shape;450;p68" title="longhair_corre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41900" y="918749"/>
            <a:ext cx="3516575" cy="3576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Longhair cats have 4.1× the odds of genotype-survey discordance</a:t>
            </a:r>
            <a:endParaRPr/>
          </a:p>
        </p:txBody>
      </p:sp>
      <p:sp>
        <p:nvSpPr>
          <p:cNvPr id="456" name="Google Shape;456;p6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457" name="Google Shape;457;p69"/>
          <p:cNvSpPr txBox="1"/>
          <p:nvPr/>
        </p:nvSpPr>
        <p:spPr>
          <a:xfrm>
            <a:off x="5512650" y="1881300"/>
            <a:ext cx="2603100" cy="183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(in 305 cats with tabby type and survey tabby type not missing)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58" name="Google Shape;458;p69" title="updated_forest_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48350"/>
            <a:ext cx="5109975" cy="313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factors: “Longhair”, “Dilute”, “Orange”</a:t>
            </a:r>
            <a:endParaRPr/>
          </a:p>
        </p:txBody>
      </p:sp>
      <p:sp>
        <p:nvSpPr>
          <p:cNvPr id="464" name="Google Shape;464;p7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70"/>
          <p:cNvSpPr txBox="1"/>
          <p:nvPr/>
        </p:nvSpPr>
        <p:spPr>
          <a:xfrm>
            <a:off x="4082700" y="1391475"/>
            <a:ext cx="4526100" cy="31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Discordance increases with additional risk factors.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466" name="Google Shape;466;p70" title="risk_factors_correct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7" y="1152482"/>
            <a:ext cx="3682525" cy="289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Two mismatches (Difficult cats)</a:t>
            </a:r>
            <a:endParaRPr/>
          </a:p>
        </p:txBody>
      </p:sp>
      <p:sp>
        <p:nvSpPr>
          <p:cNvPr id="472" name="Google Shape;472;p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236275"/>
            <a:ext cx="3037275" cy="3332601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71"/>
          <p:cNvSpPr txBox="1"/>
          <p:nvPr/>
        </p:nvSpPr>
        <p:spPr>
          <a:xfrm>
            <a:off x="4099775" y="1266425"/>
            <a:ext cx="4389600" cy="32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GENOTYPE: Not dilute, not colorpoint, mackerel tabby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SURVEY: </a:t>
            </a:r>
            <a:r>
              <a:rPr lang="en" sz="1800">
                <a:solidFill>
                  <a:srgbClr val="FF0000"/>
                </a:solidFill>
              </a:rPr>
              <a:t>Dilute</a:t>
            </a:r>
            <a:r>
              <a:rPr lang="en" sz="1800">
                <a:solidFill>
                  <a:schemeClr val="dk2"/>
                </a:solidFill>
              </a:rPr>
              <a:t>, not colorpoint, </a:t>
            </a:r>
            <a:r>
              <a:rPr lang="en" sz="1800">
                <a:solidFill>
                  <a:srgbClr val="FF0000"/>
                </a:solidFill>
              </a:rPr>
              <a:t>ticked</a:t>
            </a:r>
            <a:r>
              <a:rPr lang="en" sz="1800">
                <a:solidFill>
                  <a:schemeClr val="dk2"/>
                </a:solidFill>
              </a:rPr>
              <a:t> tabby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7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Takeaways</a:t>
            </a:r>
            <a:endParaRPr/>
          </a:p>
        </p:txBody>
      </p:sp>
      <p:sp>
        <p:nvSpPr>
          <p:cNvPr id="480" name="Google Shape;480;p7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Survey takers may need more help answering some of the toughest questions on cat coat description (e.g., example photos)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Darwin’s Ark has replicated and validated much of the literature on cat coat phenotypes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Darwin’s Ark will be crucial to validate tabby patterns as well as to explore them further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Darwin’s Ark model works!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